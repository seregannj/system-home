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2"/>
  </p:notesMasterIdLst>
  <p:sldIdLst>
    <p:sldId id="256" r:id="rId2"/>
    <p:sldId id="259" r:id="rId3"/>
    <p:sldId id="280" r:id="rId4"/>
    <p:sldId id="260" r:id="rId5"/>
    <p:sldId id="258" r:id="rId6"/>
    <p:sldId id="262" r:id="rId7"/>
    <p:sldId id="305" r:id="rId8"/>
    <p:sldId id="283" r:id="rId9"/>
    <p:sldId id="266" r:id="rId10"/>
    <p:sldId id="274" r:id="rId11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13"/>
      <p:bold r:id="rId14"/>
      <p:italic r:id="rId15"/>
      <p:boldItalic r:id="rId16"/>
    </p:embeddedFont>
    <p:embeddedFont>
      <p:font typeface="Montserrat ExtraBold" panose="00000900000000000000" pitchFamily="2" charset="-52"/>
      <p:bold r:id="rId17"/>
      <p:boldItalic r:id="rId18"/>
    </p:embeddedFont>
    <p:embeddedFont>
      <p:font typeface="Montserrat SemiBold" panose="00000700000000000000" pitchFamily="2" charset="-52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2A89B5-6F55-4604-B425-BF533E74EEBC}">
  <a:tblStyle styleId="{E82A89B5-6F55-4604-B425-BF533E74EE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3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7f9262ee2f_0_26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87" name="Google Shape;2087;g7f9262ee2f_0_26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2902334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98" name="Google Shape;198;g72902334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7f9262ee2f_0_26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126" name="Google Shape;2126;g7f9262ee2f_0_26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7f9262ee2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63" name="Google Shape;263;g7f9262ee2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7f9262ee2f_0_26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984" name="Google Shape;1984;g7f9262ee2f_0_26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 hasCustomPrompt="1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1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ubTitle" idx="1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5" r:id="rId5"/>
    <p:sldLayoutId id="2147483657" r:id="rId6"/>
    <p:sldLayoutId id="2147483658" r:id="rId7"/>
    <p:sldLayoutId id="2147483660" r:id="rId8"/>
    <p:sldLayoutId id="2147483661" r:id="rId9"/>
    <p:sldLayoutId id="2147483662" r:id="rId10"/>
    <p:sldLayoutId id="2147483676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1264356" y="1264357"/>
            <a:ext cx="6299200" cy="23368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«Создание модели умного дома и программного обеспечения для его управления с использованием ИИ»</a:t>
            </a:r>
            <a:endParaRPr sz="2800"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1399822" y="3465689"/>
            <a:ext cx="6299200" cy="1354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Авторы проекта: Фёдоров Сергей Егорович, Милованкин Георгий Олегович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10 «А» класс ГБОУ Школа 2053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Научный руководитель проекта: Учитель информатики Шокарева Татьяна Владимировна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>
            <a:spLocks noGrp="1"/>
          </p:cNvSpPr>
          <p:nvPr>
            <p:ph type="ctrTitle"/>
          </p:nvPr>
        </p:nvSpPr>
        <p:spPr>
          <a:xfrm>
            <a:off x="4285500" y="837295"/>
            <a:ext cx="3657300" cy="18839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dirty="0"/>
              <a:t>Цель проекта</a:t>
            </a:r>
            <a:endParaRPr sz="4800" dirty="0"/>
          </a:p>
        </p:txBody>
      </p:sp>
      <p:sp>
        <p:nvSpPr>
          <p:cNvPr id="195" name="Google Shape;195;p41"/>
          <p:cNvSpPr txBox="1">
            <a:spLocks noGrp="1"/>
          </p:cNvSpPr>
          <p:nvPr>
            <p:ph type="subTitle" idx="1"/>
          </p:nvPr>
        </p:nvSpPr>
        <p:spPr>
          <a:xfrm>
            <a:off x="3567289" y="3262489"/>
            <a:ext cx="4516961" cy="1309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Целью проекта являлось создание трёхмерной модели умного дома и программного прототипа системы управления.</a:t>
            </a: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62"/>
          <p:cNvSpPr txBox="1">
            <a:spLocks noGrp="1"/>
          </p:cNvSpPr>
          <p:nvPr>
            <p:ph type="body" idx="2"/>
          </p:nvPr>
        </p:nvSpPr>
        <p:spPr>
          <a:xfrm>
            <a:off x="3789200" y="1381103"/>
            <a:ext cx="4677467" cy="29368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chemeClr val="lt1"/>
                </a:solidFill>
              </a:rPr>
              <a:t>Разработка 3</a:t>
            </a:r>
            <a:r>
              <a:rPr lang="en-US" dirty="0">
                <a:solidFill>
                  <a:schemeClr val="lt1"/>
                </a:solidFill>
              </a:rPr>
              <a:t>D-</a:t>
            </a:r>
            <a:r>
              <a:rPr lang="ru-RU" dirty="0">
                <a:solidFill>
                  <a:schemeClr val="lt1"/>
                </a:solidFill>
              </a:rPr>
              <a:t>модели</a:t>
            </a:r>
          </a:p>
          <a:p>
            <a:pPr marL="139700" indent="0">
              <a:buNone/>
            </a:pPr>
            <a:endParaRPr lang="ru-RU" dirty="0">
              <a:solidFill>
                <a:schemeClr val="lt1"/>
              </a:solidFill>
            </a:endParaRPr>
          </a:p>
          <a:p>
            <a:r>
              <a:rPr lang="ru-RU" dirty="0">
                <a:solidFill>
                  <a:schemeClr val="lt1"/>
                </a:solidFill>
              </a:rPr>
              <a:t>Создание программного обеспечения</a:t>
            </a:r>
          </a:p>
          <a:p>
            <a:endParaRPr lang="ru-RU" dirty="0">
              <a:solidFill>
                <a:schemeClr val="lt1"/>
              </a:solidFill>
            </a:endParaRPr>
          </a:p>
          <a:p>
            <a:r>
              <a:rPr lang="ru-RU" dirty="0">
                <a:solidFill>
                  <a:schemeClr val="lt1"/>
                </a:solidFill>
              </a:rPr>
              <a:t>Разработка компонентов системы</a:t>
            </a:r>
          </a:p>
          <a:p>
            <a:endParaRPr lang="ru-RU" dirty="0">
              <a:solidFill>
                <a:schemeClr val="lt1"/>
              </a:solidFill>
            </a:endParaRPr>
          </a:p>
          <a:p>
            <a:r>
              <a:rPr lang="ru-RU" dirty="0">
                <a:solidFill>
                  <a:schemeClr val="lt1"/>
                </a:solidFill>
              </a:rPr>
              <a:t>Практическая реализация</a:t>
            </a:r>
          </a:p>
          <a:p>
            <a:endParaRPr lang="ru-RU" dirty="0">
              <a:solidFill>
                <a:schemeClr val="lt1"/>
              </a:solidFill>
            </a:endParaRPr>
          </a:p>
          <a:p>
            <a:r>
              <a:rPr lang="ru-RU" dirty="0">
                <a:solidFill>
                  <a:schemeClr val="lt1"/>
                </a:solidFill>
              </a:rPr>
              <a:t>Обеспечение универсальности</a:t>
            </a:r>
          </a:p>
          <a:p>
            <a:endParaRPr lang="ru-RU" dirty="0">
              <a:solidFill>
                <a:schemeClr val="lt1"/>
              </a:solidFill>
            </a:endParaRPr>
          </a:p>
          <a:p>
            <a:r>
              <a:rPr lang="ru-RU" dirty="0">
                <a:solidFill>
                  <a:schemeClr val="lt1"/>
                </a:solidFill>
              </a:rPr>
              <a:t>Внедрение искусственного интеллекта</a:t>
            </a:r>
          </a:p>
        </p:txBody>
      </p:sp>
      <p:sp>
        <p:nvSpPr>
          <p:cNvPr id="2091" name="Google Shape;2091;p6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Задачи </a:t>
            </a:r>
            <a:br>
              <a:rPr lang="ru-RU" dirty="0"/>
            </a:br>
            <a:r>
              <a:rPr lang="ru-RU" dirty="0"/>
              <a:t>проекта</a:t>
            </a:r>
            <a:endParaRPr dirty="0"/>
          </a:p>
        </p:txBody>
      </p:sp>
      <p:cxnSp>
        <p:nvCxnSpPr>
          <p:cNvPr id="2092" name="Google Shape;2092;p6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pSp>
        <p:nvGrpSpPr>
          <p:cNvPr id="3" name="Google Shape;10840;p80">
            <a:extLst>
              <a:ext uri="{FF2B5EF4-FFF2-40B4-BE49-F238E27FC236}">
                <a16:creationId xmlns:a16="http://schemas.microsoft.com/office/drawing/2014/main" id="{1F559665-7B76-DAAD-DDC0-9253A7FC5F37}"/>
              </a:ext>
            </a:extLst>
          </p:cNvPr>
          <p:cNvGrpSpPr/>
          <p:nvPr/>
        </p:nvGrpSpPr>
        <p:grpSpPr>
          <a:xfrm>
            <a:off x="1151016" y="2193998"/>
            <a:ext cx="1256684" cy="1172932"/>
            <a:chOff x="3950316" y="3820307"/>
            <a:chExt cx="369805" cy="353782"/>
          </a:xfrm>
        </p:grpSpPr>
        <p:sp>
          <p:nvSpPr>
            <p:cNvPr id="4" name="Google Shape;10841;p80">
              <a:extLst>
                <a:ext uri="{FF2B5EF4-FFF2-40B4-BE49-F238E27FC236}">
                  <a16:creationId xmlns:a16="http://schemas.microsoft.com/office/drawing/2014/main" id="{74F67E36-F234-1F37-A749-8679E4B1F72F}"/>
                </a:ext>
              </a:extLst>
            </p:cNvPr>
            <p:cNvSpPr/>
            <p:nvPr/>
          </p:nvSpPr>
          <p:spPr>
            <a:xfrm>
              <a:off x="4040561" y="3880991"/>
              <a:ext cx="99802" cy="28383"/>
            </a:xfrm>
            <a:custGeom>
              <a:avLst/>
              <a:gdLst/>
              <a:ahLst/>
              <a:cxnLst/>
              <a:rect l="l" t="t" r="r" b="b"/>
              <a:pathLst>
                <a:path w="3133" h="891" extrusionOk="0">
                  <a:moveTo>
                    <a:pt x="1572" y="1"/>
                  </a:moveTo>
                  <a:cubicBezTo>
                    <a:pt x="1001" y="1"/>
                    <a:pt x="465" y="227"/>
                    <a:pt x="60" y="632"/>
                  </a:cubicBezTo>
                  <a:cubicBezTo>
                    <a:pt x="1" y="691"/>
                    <a:pt x="1" y="787"/>
                    <a:pt x="60" y="846"/>
                  </a:cubicBezTo>
                  <a:cubicBezTo>
                    <a:pt x="84" y="876"/>
                    <a:pt x="123" y="891"/>
                    <a:pt x="165" y="891"/>
                  </a:cubicBezTo>
                  <a:cubicBezTo>
                    <a:pt x="206" y="891"/>
                    <a:pt x="251" y="876"/>
                    <a:pt x="287" y="846"/>
                  </a:cubicBezTo>
                  <a:cubicBezTo>
                    <a:pt x="632" y="513"/>
                    <a:pt x="1072" y="310"/>
                    <a:pt x="1572" y="310"/>
                  </a:cubicBezTo>
                  <a:cubicBezTo>
                    <a:pt x="2061" y="310"/>
                    <a:pt x="2501" y="513"/>
                    <a:pt x="2846" y="846"/>
                  </a:cubicBezTo>
                  <a:cubicBezTo>
                    <a:pt x="2876" y="876"/>
                    <a:pt x="2918" y="891"/>
                    <a:pt x="2960" y="891"/>
                  </a:cubicBezTo>
                  <a:cubicBezTo>
                    <a:pt x="3001" y="891"/>
                    <a:pt x="3043" y="876"/>
                    <a:pt x="3073" y="846"/>
                  </a:cubicBezTo>
                  <a:cubicBezTo>
                    <a:pt x="3132" y="787"/>
                    <a:pt x="3132" y="691"/>
                    <a:pt x="3073" y="632"/>
                  </a:cubicBezTo>
                  <a:cubicBezTo>
                    <a:pt x="2668" y="227"/>
                    <a:pt x="2132" y="1"/>
                    <a:pt x="157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842;p80">
              <a:extLst>
                <a:ext uri="{FF2B5EF4-FFF2-40B4-BE49-F238E27FC236}">
                  <a16:creationId xmlns:a16="http://schemas.microsoft.com/office/drawing/2014/main" id="{6E67A048-7396-9035-739B-9349F80022C4}"/>
                </a:ext>
              </a:extLst>
            </p:cNvPr>
            <p:cNvSpPr/>
            <p:nvPr/>
          </p:nvSpPr>
          <p:spPr>
            <a:xfrm>
              <a:off x="3950316" y="3820307"/>
              <a:ext cx="369805" cy="353782"/>
            </a:xfrm>
            <a:custGeom>
              <a:avLst/>
              <a:gdLst/>
              <a:ahLst/>
              <a:cxnLst/>
              <a:rect l="l" t="t" r="r" b="b"/>
              <a:pathLst>
                <a:path w="11609" h="11106" extrusionOk="0">
                  <a:moveTo>
                    <a:pt x="7358" y="6728"/>
                  </a:moveTo>
                  <a:lnTo>
                    <a:pt x="7799" y="7156"/>
                  </a:lnTo>
                  <a:lnTo>
                    <a:pt x="7513" y="7442"/>
                  </a:lnTo>
                  <a:lnTo>
                    <a:pt x="7084" y="7014"/>
                  </a:lnTo>
                  <a:cubicBezTo>
                    <a:pt x="7180" y="6918"/>
                    <a:pt x="7275" y="6835"/>
                    <a:pt x="7358" y="6728"/>
                  </a:cubicBezTo>
                  <a:close/>
                  <a:moveTo>
                    <a:pt x="4395" y="358"/>
                  </a:moveTo>
                  <a:cubicBezTo>
                    <a:pt x="5337" y="358"/>
                    <a:pt x="6281" y="715"/>
                    <a:pt x="7001" y="1429"/>
                  </a:cubicBezTo>
                  <a:cubicBezTo>
                    <a:pt x="8370" y="2799"/>
                    <a:pt x="8430" y="4942"/>
                    <a:pt x="7239" y="6382"/>
                  </a:cubicBezTo>
                  <a:cubicBezTo>
                    <a:pt x="7096" y="6561"/>
                    <a:pt x="6930" y="6728"/>
                    <a:pt x="6763" y="6859"/>
                  </a:cubicBezTo>
                  <a:cubicBezTo>
                    <a:pt x="6075" y="7434"/>
                    <a:pt x="5230" y="7723"/>
                    <a:pt x="4386" y="7723"/>
                  </a:cubicBezTo>
                  <a:cubicBezTo>
                    <a:pt x="3448" y="7723"/>
                    <a:pt x="2513" y="7365"/>
                    <a:pt x="1798" y="6644"/>
                  </a:cubicBezTo>
                  <a:cubicBezTo>
                    <a:pt x="357" y="5192"/>
                    <a:pt x="357" y="2870"/>
                    <a:pt x="1798" y="1429"/>
                  </a:cubicBezTo>
                  <a:cubicBezTo>
                    <a:pt x="2512" y="715"/>
                    <a:pt x="3453" y="358"/>
                    <a:pt x="4395" y="358"/>
                  </a:cubicBezTo>
                  <a:close/>
                  <a:moveTo>
                    <a:pt x="8226" y="7228"/>
                  </a:moveTo>
                  <a:cubicBezTo>
                    <a:pt x="8260" y="7228"/>
                    <a:pt x="8293" y="7240"/>
                    <a:pt x="8311" y="7264"/>
                  </a:cubicBezTo>
                  <a:lnTo>
                    <a:pt x="8763" y="7668"/>
                  </a:lnTo>
                  <a:lnTo>
                    <a:pt x="8001" y="8430"/>
                  </a:lnTo>
                  <a:lnTo>
                    <a:pt x="7620" y="7966"/>
                  </a:lnTo>
                  <a:cubicBezTo>
                    <a:pt x="7573" y="7918"/>
                    <a:pt x="7573" y="7835"/>
                    <a:pt x="7620" y="7787"/>
                  </a:cubicBezTo>
                  <a:lnTo>
                    <a:pt x="8132" y="7264"/>
                  </a:lnTo>
                  <a:cubicBezTo>
                    <a:pt x="8156" y="7240"/>
                    <a:pt x="8192" y="7228"/>
                    <a:pt x="8226" y="7228"/>
                  </a:cubicBezTo>
                  <a:close/>
                  <a:moveTo>
                    <a:pt x="9013" y="7871"/>
                  </a:moveTo>
                  <a:lnTo>
                    <a:pt x="10871" y="9514"/>
                  </a:lnTo>
                  <a:cubicBezTo>
                    <a:pt x="11192" y="9800"/>
                    <a:pt x="11204" y="10276"/>
                    <a:pt x="10906" y="10573"/>
                  </a:cubicBezTo>
                  <a:cubicBezTo>
                    <a:pt x="10765" y="10715"/>
                    <a:pt x="10580" y="10784"/>
                    <a:pt x="10396" y="10784"/>
                  </a:cubicBezTo>
                  <a:cubicBezTo>
                    <a:pt x="10193" y="10784"/>
                    <a:pt x="9990" y="10700"/>
                    <a:pt x="9847" y="10538"/>
                  </a:cubicBezTo>
                  <a:lnTo>
                    <a:pt x="8227" y="8668"/>
                  </a:lnTo>
                  <a:lnTo>
                    <a:pt x="9013" y="7871"/>
                  </a:lnTo>
                  <a:close/>
                  <a:moveTo>
                    <a:pt x="4423" y="1"/>
                  </a:moveTo>
                  <a:cubicBezTo>
                    <a:pt x="3396" y="1"/>
                    <a:pt x="2370" y="394"/>
                    <a:pt x="1584" y="1179"/>
                  </a:cubicBezTo>
                  <a:cubicBezTo>
                    <a:pt x="0" y="2775"/>
                    <a:pt x="0" y="5299"/>
                    <a:pt x="1560" y="6883"/>
                  </a:cubicBezTo>
                  <a:cubicBezTo>
                    <a:pt x="2340" y="7663"/>
                    <a:pt x="3364" y="8052"/>
                    <a:pt x="4389" y="8052"/>
                  </a:cubicBezTo>
                  <a:cubicBezTo>
                    <a:pt x="5257" y="8052"/>
                    <a:pt x="6126" y="7773"/>
                    <a:pt x="6846" y="7216"/>
                  </a:cubicBezTo>
                  <a:lnTo>
                    <a:pt x="7323" y="7692"/>
                  </a:lnTo>
                  <a:cubicBezTo>
                    <a:pt x="7239" y="7859"/>
                    <a:pt x="7263" y="8049"/>
                    <a:pt x="7394" y="8180"/>
                  </a:cubicBezTo>
                  <a:lnTo>
                    <a:pt x="9644" y="10752"/>
                  </a:lnTo>
                  <a:cubicBezTo>
                    <a:pt x="9847" y="10986"/>
                    <a:pt x="10133" y="11105"/>
                    <a:pt x="10421" y="11105"/>
                  </a:cubicBezTo>
                  <a:cubicBezTo>
                    <a:pt x="10690" y="11105"/>
                    <a:pt x="10961" y="11001"/>
                    <a:pt x="11168" y="10788"/>
                  </a:cubicBezTo>
                  <a:cubicBezTo>
                    <a:pt x="11609" y="10359"/>
                    <a:pt x="11573" y="9657"/>
                    <a:pt x="11133" y="9264"/>
                  </a:cubicBezTo>
                  <a:lnTo>
                    <a:pt x="8573" y="7014"/>
                  </a:lnTo>
                  <a:cubicBezTo>
                    <a:pt x="8483" y="6939"/>
                    <a:pt x="8369" y="6897"/>
                    <a:pt x="8259" y="6897"/>
                  </a:cubicBezTo>
                  <a:cubicBezTo>
                    <a:pt x="8194" y="6897"/>
                    <a:pt x="8130" y="6911"/>
                    <a:pt x="8073" y="6942"/>
                  </a:cubicBezTo>
                  <a:lnTo>
                    <a:pt x="7596" y="6454"/>
                  </a:lnTo>
                  <a:cubicBezTo>
                    <a:pt x="8811" y="4894"/>
                    <a:pt x="8704" y="2632"/>
                    <a:pt x="7263" y="1179"/>
                  </a:cubicBezTo>
                  <a:cubicBezTo>
                    <a:pt x="6477" y="394"/>
                    <a:pt x="5450" y="1"/>
                    <a:pt x="442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843;p80">
              <a:extLst>
                <a:ext uri="{FF2B5EF4-FFF2-40B4-BE49-F238E27FC236}">
                  <a16:creationId xmlns:a16="http://schemas.microsoft.com/office/drawing/2014/main" id="{2BBB5297-AA8B-CA51-29B3-98CFEE3FB9B6}"/>
                </a:ext>
              </a:extLst>
            </p:cNvPr>
            <p:cNvSpPr/>
            <p:nvPr/>
          </p:nvSpPr>
          <p:spPr>
            <a:xfrm>
              <a:off x="4098219" y="3850602"/>
              <a:ext cx="101299" cy="195781"/>
            </a:xfrm>
            <a:custGeom>
              <a:avLst/>
              <a:gdLst/>
              <a:ahLst/>
              <a:cxnLst/>
              <a:rect l="l" t="t" r="r" b="b"/>
              <a:pathLst>
                <a:path w="3180" h="6146" extrusionOk="0">
                  <a:moveTo>
                    <a:pt x="194" y="1"/>
                  </a:moveTo>
                  <a:cubicBezTo>
                    <a:pt x="120" y="1"/>
                    <a:pt x="58" y="57"/>
                    <a:pt x="36" y="133"/>
                  </a:cubicBezTo>
                  <a:cubicBezTo>
                    <a:pt x="24" y="228"/>
                    <a:pt x="84" y="300"/>
                    <a:pt x="179" y="312"/>
                  </a:cubicBezTo>
                  <a:cubicBezTo>
                    <a:pt x="775" y="407"/>
                    <a:pt x="1322" y="669"/>
                    <a:pt x="1739" y="1110"/>
                  </a:cubicBezTo>
                  <a:cubicBezTo>
                    <a:pt x="2822" y="2193"/>
                    <a:pt x="2822" y="3967"/>
                    <a:pt x="1739" y="5050"/>
                  </a:cubicBezTo>
                  <a:cubicBezTo>
                    <a:pt x="1286" y="5479"/>
                    <a:pt x="739" y="5765"/>
                    <a:pt x="143" y="5836"/>
                  </a:cubicBezTo>
                  <a:cubicBezTo>
                    <a:pt x="60" y="5848"/>
                    <a:pt x="1" y="5932"/>
                    <a:pt x="13" y="6015"/>
                  </a:cubicBezTo>
                  <a:cubicBezTo>
                    <a:pt x="24" y="6086"/>
                    <a:pt x="84" y="6146"/>
                    <a:pt x="179" y="6146"/>
                  </a:cubicBezTo>
                  <a:lnTo>
                    <a:pt x="203" y="6146"/>
                  </a:lnTo>
                  <a:cubicBezTo>
                    <a:pt x="870" y="6063"/>
                    <a:pt x="1489" y="5753"/>
                    <a:pt x="1977" y="5277"/>
                  </a:cubicBezTo>
                  <a:cubicBezTo>
                    <a:pt x="3180" y="4062"/>
                    <a:pt x="3180" y="2086"/>
                    <a:pt x="1977" y="883"/>
                  </a:cubicBezTo>
                  <a:cubicBezTo>
                    <a:pt x="1501" y="407"/>
                    <a:pt x="894" y="97"/>
                    <a:pt x="215" y="2"/>
                  </a:cubicBezTo>
                  <a:cubicBezTo>
                    <a:pt x="208" y="1"/>
                    <a:pt x="201" y="1"/>
                    <a:pt x="19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844;p80">
              <a:extLst>
                <a:ext uri="{FF2B5EF4-FFF2-40B4-BE49-F238E27FC236}">
                  <a16:creationId xmlns:a16="http://schemas.microsoft.com/office/drawing/2014/main" id="{87267DA7-E609-29DB-0500-AD78D062D7DB}"/>
                </a:ext>
              </a:extLst>
            </p:cNvPr>
            <p:cNvSpPr/>
            <p:nvPr/>
          </p:nvSpPr>
          <p:spPr>
            <a:xfrm>
              <a:off x="3981789" y="3849136"/>
              <a:ext cx="103178" cy="198011"/>
            </a:xfrm>
            <a:custGeom>
              <a:avLst/>
              <a:gdLst/>
              <a:ahLst/>
              <a:cxnLst/>
              <a:rect l="l" t="t" r="r" b="b"/>
              <a:pathLst>
                <a:path w="3239" h="6216" extrusionOk="0">
                  <a:moveTo>
                    <a:pt x="3036" y="1"/>
                  </a:moveTo>
                  <a:cubicBezTo>
                    <a:pt x="2346" y="120"/>
                    <a:pt x="1703" y="441"/>
                    <a:pt x="1215" y="929"/>
                  </a:cubicBezTo>
                  <a:cubicBezTo>
                    <a:pt x="0" y="2132"/>
                    <a:pt x="0" y="4108"/>
                    <a:pt x="1215" y="5323"/>
                  </a:cubicBezTo>
                  <a:cubicBezTo>
                    <a:pt x="1715" y="5823"/>
                    <a:pt x="2346" y="6120"/>
                    <a:pt x="3036" y="6216"/>
                  </a:cubicBezTo>
                  <a:lnTo>
                    <a:pt x="3060" y="6216"/>
                  </a:lnTo>
                  <a:cubicBezTo>
                    <a:pt x="3132" y="6216"/>
                    <a:pt x="3203" y="6156"/>
                    <a:pt x="3215" y="6061"/>
                  </a:cubicBezTo>
                  <a:cubicBezTo>
                    <a:pt x="3239" y="5978"/>
                    <a:pt x="3156" y="5894"/>
                    <a:pt x="3072" y="5882"/>
                  </a:cubicBezTo>
                  <a:cubicBezTo>
                    <a:pt x="2441" y="5811"/>
                    <a:pt x="1882" y="5537"/>
                    <a:pt x="1429" y="5085"/>
                  </a:cubicBezTo>
                  <a:cubicBezTo>
                    <a:pt x="346" y="3989"/>
                    <a:pt x="346" y="2215"/>
                    <a:pt x="1429" y="1132"/>
                  </a:cubicBezTo>
                  <a:cubicBezTo>
                    <a:pt x="1882" y="691"/>
                    <a:pt x="2441" y="405"/>
                    <a:pt x="3072" y="334"/>
                  </a:cubicBezTo>
                  <a:cubicBezTo>
                    <a:pt x="3156" y="322"/>
                    <a:pt x="3215" y="239"/>
                    <a:pt x="3215" y="155"/>
                  </a:cubicBezTo>
                  <a:cubicBezTo>
                    <a:pt x="3203" y="60"/>
                    <a:pt x="3132" y="1"/>
                    <a:pt x="303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2"/>
          <p:cNvSpPr txBox="1">
            <a:spLocks noGrp="1"/>
          </p:cNvSpPr>
          <p:nvPr>
            <p:ph type="ctrTitle"/>
          </p:nvPr>
        </p:nvSpPr>
        <p:spPr>
          <a:xfrm>
            <a:off x="1225550" y="965200"/>
            <a:ext cx="6692900" cy="32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/>
              <a:t>Проект актуален не только как исследовательская работа, но и как потенциально востребованный продукт, отвечающий на вызовы современной технологической, экономической и образовательной повестки</a:t>
            </a:r>
            <a:endParaRPr sz="2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Код</a:t>
            </a:r>
            <a:endParaRPr dirty="0"/>
          </a:p>
        </p:txBody>
      </p:sp>
      <p:sp>
        <p:nvSpPr>
          <p:cNvPr id="180" name="Google Shape;180;p40"/>
          <p:cNvSpPr txBox="1">
            <a:spLocks noGrp="1"/>
          </p:cNvSpPr>
          <p:nvPr>
            <p:ph type="subTitle" idx="1"/>
          </p:nvPr>
        </p:nvSpPr>
        <p:spPr>
          <a:xfrm>
            <a:off x="3648845" y="3146550"/>
            <a:ext cx="1846303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Создан код для каждого устройства</a:t>
            </a:r>
            <a:endParaRPr dirty="0"/>
          </a:p>
        </p:txBody>
      </p:sp>
      <p:sp>
        <p:nvSpPr>
          <p:cNvPr id="181" name="Google Shape;181;p40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Сайт</a:t>
            </a:r>
            <a:endParaRPr dirty="0"/>
          </a:p>
        </p:txBody>
      </p:sp>
      <p:sp>
        <p:nvSpPr>
          <p:cNvPr id="182" name="Google Shape;182;p40"/>
          <p:cNvSpPr txBox="1">
            <a:spLocks noGrp="1"/>
          </p:cNvSpPr>
          <p:nvPr>
            <p:ph type="subTitle" idx="3"/>
          </p:nvPr>
        </p:nvSpPr>
        <p:spPr>
          <a:xfrm>
            <a:off x="5817022" y="3146550"/>
            <a:ext cx="2490056" cy="100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Объединено в едином пространстве удобном для пользователей</a:t>
            </a:r>
            <a:endParaRPr dirty="0"/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3</a:t>
            </a:r>
            <a:r>
              <a:rPr lang="en-US" dirty="0"/>
              <a:t>D-</a:t>
            </a:r>
            <a:r>
              <a:rPr lang="ru-RU" dirty="0"/>
              <a:t>модель</a:t>
            </a:r>
            <a:endParaRPr dirty="0"/>
          </a:p>
        </p:txBody>
      </p:sp>
      <p:sp>
        <p:nvSpPr>
          <p:cNvPr id="184" name="Google Shape;184;p40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Создана 3</a:t>
            </a:r>
            <a:r>
              <a:rPr lang="en-US" dirty="0"/>
              <a:t>D-</a:t>
            </a:r>
            <a:r>
              <a:rPr lang="ru-RU" dirty="0"/>
              <a:t>модель и сделаны первые рендеры</a:t>
            </a:r>
            <a:endParaRPr dirty="0"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87" name="Google Shape;187;p40"/>
          <p:cNvCxnSpPr/>
          <p:nvPr/>
        </p:nvCxnSpPr>
        <p:spPr>
          <a:xfrm>
            <a:off x="18833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437340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68634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AE43E13-5841-6868-3DB4-0CBA4A0F8C4E}"/>
              </a:ext>
            </a:extLst>
          </p:cNvPr>
          <p:cNvSpPr txBox="1"/>
          <p:nvPr/>
        </p:nvSpPr>
        <p:spPr>
          <a:xfrm>
            <a:off x="2606571" y="760325"/>
            <a:ext cx="3930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Ход</a:t>
            </a:r>
            <a:r>
              <a:rPr lang="ru-RU" sz="2800" dirty="0">
                <a:latin typeface="Montserrat ExtraBold" panose="00000900000000000000" pitchFamily="2" charset="-52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Montserrat ExtraBold" panose="00000900000000000000" pitchFamily="2" charset="-52"/>
              </a:rPr>
              <a:t>работы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latin typeface="Montserrat ExtraBold" pitchFamily="2" charset="-52"/>
              </a:rPr>
              <a:t>01. 3</a:t>
            </a:r>
            <a:r>
              <a:rPr lang="en-US" sz="3200" dirty="0">
                <a:latin typeface="Montserrat ExtraBold" pitchFamily="2" charset="-52"/>
              </a:rPr>
              <a:t>D-</a:t>
            </a:r>
            <a:r>
              <a:rPr lang="ru-RU" sz="3200" dirty="0">
                <a:latin typeface="Montserrat ExtraBold" pitchFamily="2" charset="-52"/>
              </a:rPr>
              <a:t>модель</a:t>
            </a:r>
            <a:endParaRPr sz="3200" dirty="0">
              <a:solidFill>
                <a:schemeClr val="accent1"/>
              </a:solidFill>
              <a:latin typeface="Montserrat ExtraBold" pitchFamily="2" charset="-52"/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5C1462-0872-2D8D-E40D-1E1657E13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939" b="98639" l="5115" r="93397">
                        <a14:foregroundMark x1="7061" y1="8299" x2="13015" y2="87755"/>
                        <a14:foregroundMark x1="13015" y1="87755" x2="22901" y2="55918"/>
                        <a14:foregroundMark x1="22901" y1="55918" x2="44160" y2="47891"/>
                        <a14:foregroundMark x1="44160" y1="47891" x2="78473" y2="19150"/>
                        <a14:foregroundMark x1="78473" y1="19150" x2="44885" y2="8878"/>
                        <a14:foregroundMark x1="44885" y1="8878" x2="29656" y2="19490"/>
                        <a14:foregroundMark x1="29656" y1="19490" x2="46908" y2="25714"/>
                        <a14:foregroundMark x1="46908" y1="25714" x2="39313" y2="51803"/>
                        <a14:foregroundMark x1="39313" y1="51803" x2="35916" y2="34694"/>
                        <a14:foregroundMark x1="35916" y1="34694" x2="49656" y2="70170"/>
                        <a14:foregroundMark x1="49656" y1="70170" x2="49618" y2="90918"/>
                        <a14:foregroundMark x1="49618" y1="90918" x2="77328" y2="94184"/>
                        <a14:foregroundMark x1="77328" y1="94184" x2="34962" y2="89932"/>
                        <a14:foregroundMark x1="34962" y1="89932" x2="55344" y2="84626"/>
                        <a14:foregroundMark x1="55344" y1="84626" x2="78969" y2="84796"/>
                        <a14:foregroundMark x1="78969" y1="84796" x2="58511" y2="81361"/>
                        <a14:foregroundMark x1="58511" y1="81361" x2="79847" y2="71803"/>
                        <a14:foregroundMark x1="79847" y1="71803" x2="91527" y2="10442"/>
                        <a14:foregroundMark x1="91527" y1="10442" x2="79046" y2="46939"/>
                        <a14:foregroundMark x1="79046" y1="46939" x2="51450" y2="56701"/>
                        <a14:foregroundMark x1="51450" y1="56701" x2="27290" y2="58027"/>
                        <a14:foregroundMark x1="27290" y1="58027" x2="12366" y2="86497"/>
                        <a14:foregroundMark x1="12366" y1="86497" x2="8321" y2="70272"/>
                        <a14:foregroundMark x1="8321" y1="70272" x2="17099" y2="14286"/>
                        <a14:foregroundMark x1="17099" y1="14286" x2="33588" y2="31156"/>
                        <a14:foregroundMark x1="33588" y1="31156" x2="70076" y2="17279"/>
                        <a14:foregroundMark x1="70076" y1="17279" x2="46908" y2="9286"/>
                        <a14:foregroundMark x1="46908" y1="9286" x2="27824" y2="10170"/>
                        <a14:foregroundMark x1="27824" y1="10170" x2="52863" y2="13299"/>
                        <a14:foregroundMark x1="52863" y1="13299" x2="74542" y2="11395"/>
                        <a14:foregroundMark x1="74542" y1="11395" x2="79046" y2="8878"/>
                        <a14:foregroundMark x1="8702" y1="5952" x2="45725" y2="11565"/>
                        <a14:foregroundMark x1="45725" y1="11565" x2="71336" y2="9932"/>
                        <a14:foregroundMark x1="71336" y1="9932" x2="45076" y2="9048"/>
                        <a14:foregroundMark x1="45076" y1="9048" x2="26374" y2="3571"/>
                        <a14:foregroundMark x1="26374" y1="3571" x2="40229" y2="14932"/>
                        <a14:foregroundMark x1="40229" y1="14932" x2="65687" y2="18844"/>
                        <a14:foregroundMark x1="65687" y1="18844" x2="77214" y2="30510"/>
                        <a14:foregroundMark x1="77214" y1="30510" x2="36107" y2="50408"/>
                        <a14:foregroundMark x1="36107" y1="50408" x2="52672" y2="58265"/>
                        <a14:foregroundMark x1="52672" y1="58265" x2="39656" y2="81463"/>
                        <a14:foregroundMark x1="39656" y1="81463" x2="59008" y2="90170"/>
                        <a14:foregroundMark x1="59008" y1="90170" x2="84160" y2="93027"/>
                        <a14:foregroundMark x1="84160" y1="93027" x2="93893" y2="75816"/>
                        <a14:foregroundMark x1="93893" y1="75816" x2="76870" y2="59660"/>
                        <a14:foregroundMark x1="76870" y1="59660" x2="90420" y2="44728"/>
                        <a14:foregroundMark x1="90420" y1="44728" x2="89924" y2="25442"/>
                        <a14:foregroundMark x1="89924" y1="25442" x2="59084" y2="59320"/>
                        <a14:foregroundMark x1="59084" y1="59320" x2="19580" y2="81224"/>
                        <a14:foregroundMark x1="19580" y1="81224" x2="9351" y2="69592"/>
                        <a14:foregroundMark x1="9351" y1="69592" x2="19389" y2="28537"/>
                        <a14:foregroundMark x1="19389" y1="28537" x2="34084" y2="40408"/>
                        <a14:foregroundMark x1="34084" y1="40408" x2="36260" y2="63912"/>
                        <a14:foregroundMark x1="36260" y1="63912" x2="68626" y2="90578"/>
                        <a14:foregroundMark x1="68626" y1="90578" x2="66489" y2="45102"/>
                        <a14:foregroundMark x1="66489" y1="45102" x2="48282" y2="43401"/>
                        <a14:foregroundMark x1="48282" y1="43401" x2="8397" y2="10986"/>
                        <a14:foregroundMark x1="8397" y1="10986" x2="10344" y2="54898"/>
                        <a14:foregroundMark x1="10344" y1="54898" x2="8855" y2="40204"/>
                        <a14:foregroundMark x1="8855" y1="40204" x2="13282" y2="23163"/>
                        <a14:foregroundMark x1="5420" y1="92857" x2="87405" y2="94014"/>
                        <a14:foregroundMark x1="87405" y1="94014" x2="93435" y2="93435"/>
                        <a14:foregroundMark x1="5115" y1="80000" x2="10344" y2="98673"/>
                        <a14:foregroundMark x1="15573" y1="51429" x2="58092" y2="47007"/>
                        <a14:foregroundMark x1="58092" y1="47007" x2="74389" y2="37755"/>
                        <a14:foregroundMark x1="74389" y1="37755" x2="80687" y2="18912"/>
                        <a14:foregroundMark x1="80687" y1="18912" x2="44924" y2="6939"/>
                        <a14:foregroundMark x1="44924" y1="6939" x2="25382" y2="7721"/>
                        <a14:foregroundMark x1="15573" y1="48231" x2="15573" y2="52041"/>
                        <a14:foregroundMark x1="80038" y1="31905" x2="80038" y2="31905"/>
                        <a14:foregroundMark x1="79046" y1="26667" x2="78397" y2="330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45832" y="1386425"/>
            <a:ext cx="2911475" cy="32670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5D3F5C-D5EB-2806-E80A-34C9FBF453EE}"/>
              </a:ext>
            </a:extLst>
          </p:cNvPr>
          <p:cNvSpPr txBox="1"/>
          <p:nvPr/>
        </p:nvSpPr>
        <p:spPr>
          <a:xfrm>
            <a:off x="938500" y="1543943"/>
            <a:ext cx="392378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Этапы создания:</a:t>
            </a:r>
            <a:endParaRPr lang="LID4096" sz="1600" dirty="0">
              <a:solidFill>
                <a:schemeClr val="bg1"/>
              </a:solidFill>
              <a:latin typeface="Montserrat SemiBold" pitchFamily="2" charset="-52"/>
            </a:endParaRPr>
          </a:p>
          <a:p>
            <a:pPr algn="l"/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1. Поиск планировки в интернете</a:t>
            </a:r>
            <a:endParaRPr lang="LID4096" sz="1600" dirty="0">
              <a:solidFill>
                <a:schemeClr val="bg1"/>
              </a:solidFill>
              <a:latin typeface="Montserrat SemiBold" pitchFamily="2" charset="-52"/>
            </a:endParaRPr>
          </a:p>
          <a:p>
            <a:pPr algn="l"/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2. Создание модели </a:t>
            </a:r>
            <a:endParaRPr lang="LID4096" sz="1600" dirty="0">
              <a:solidFill>
                <a:schemeClr val="bg1"/>
              </a:solidFill>
              <a:latin typeface="Montserrat SemiBold" pitchFamily="2" charset="-52"/>
            </a:endParaRPr>
          </a:p>
          <a:p>
            <a:pPr algn="l"/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3. Добавление мебели и устройств</a:t>
            </a:r>
            <a:endParaRPr lang="LID4096" sz="1600" dirty="0">
              <a:solidFill>
                <a:schemeClr val="bg1"/>
              </a:solidFill>
              <a:latin typeface="Montserrat SemiBold" pitchFamily="2" charset="-52"/>
            </a:endParaRPr>
          </a:p>
          <a:p>
            <a:pPr algn="l"/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4. Добавление декоративных элементов</a:t>
            </a:r>
            <a:endParaRPr lang="LID4096" sz="1600" dirty="0">
              <a:solidFill>
                <a:schemeClr val="bg1"/>
              </a:solidFill>
              <a:latin typeface="Montserrat SemiBold" pitchFamily="2" charset="-52"/>
            </a:endParaRPr>
          </a:p>
          <a:p>
            <a:pPr algn="l"/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5. </a:t>
            </a:r>
            <a:r>
              <a:rPr lang="LID4096" sz="1600" dirty="0">
                <a:solidFill>
                  <a:schemeClr val="bg1"/>
                </a:solidFill>
                <a:latin typeface="Montserrat SemiBold" pitchFamily="2" charset="-52"/>
              </a:rPr>
              <a:t>Визуализация</a:t>
            </a:r>
            <a:endParaRPr lang="ru-RU" sz="1600" dirty="0">
              <a:solidFill>
                <a:schemeClr val="bg1"/>
              </a:solidFill>
              <a:latin typeface="Montserrat SemiBold" pitchFamily="2" charset="-5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CE1F2-849D-EC85-40F1-D68FB30E9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9500" y="575220"/>
            <a:ext cx="3046114" cy="750445"/>
          </a:xfrm>
        </p:spPr>
        <p:txBody>
          <a:bodyPr/>
          <a:lstStyle/>
          <a:p>
            <a:r>
              <a:rPr lang="mul" sz="3200" dirty="0">
                <a:solidFill>
                  <a:schemeClr val="accent1"/>
                </a:solidFill>
              </a:rPr>
              <a:t>02. Код</a:t>
            </a:r>
            <a:endParaRPr lang="ru-RU" sz="3200" dirty="0">
              <a:solidFill>
                <a:schemeClr val="accent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B03172-438B-ACFD-3BEC-29BC95962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5414" y="1641929"/>
            <a:ext cx="4568016" cy="3020786"/>
          </a:xfrm>
        </p:spPr>
        <p:txBody>
          <a:bodyPr anchor="t"/>
          <a:lstStyle/>
          <a:p>
            <a:pPr algn="l"/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Этапы создания кода:</a:t>
            </a:r>
            <a:endParaRPr lang="LID4096" sz="1600" dirty="0">
              <a:solidFill>
                <a:schemeClr val="bg1"/>
              </a:solidFill>
              <a:latin typeface="Montserrat SemiBold" pitchFamily="2" charset="-52"/>
            </a:endParaRPr>
          </a:p>
          <a:p>
            <a:pPr marL="114300" indent="0" algn="l"/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1. Поиск нужных </a:t>
            </a:r>
            <a:r>
              <a:rPr lang="LID4096" sz="1600" dirty="0">
                <a:solidFill>
                  <a:schemeClr val="bg1"/>
                </a:solidFill>
                <a:latin typeface="Montserrat SemiBold" pitchFamily="2" charset="-52"/>
              </a:rPr>
              <a:t>устройств</a:t>
            </a:r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.</a:t>
            </a:r>
            <a:endParaRPr lang="LID4096" sz="1600" dirty="0">
              <a:solidFill>
                <a:schemeClr val="bg1"/>
              </a:solidFill>
              <a:latin typeface="Montserrat SemiBold" pitchFamily="2" charset="-52"/>
            </a:endParaRPr>
          </a:p>
          <a:p>
            <a:pPr marL="114300" indent="0" algn="l"/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2. Определение функций каждого устройства</a:t>
            </a:r>
            <a:endParaRPr lang="LID4096" sz="1600" dirty="0">
              <a:solidFill>
                <a:schemeClr val="bg1"/>
              </a:solidFill>
              <a:latin typeface="Montserrat SemiBold" pitchFamily="2" charset="-52"/>
            </a:endParaRPr>
          </a:p>
          <a:p>
            <a:pPr marL="114300" indent="0" algn="l"/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3. Написание кода для устройства</a:t>
            </a:r>
            <a:endParaRPr lang="LID4096" sz="1600" dirty="0">
              <a:solidFill>
                <a:schemeClr val="bg1"/>
              </a:solidFill>
              <a:latin typeface="Montserrat SemiBold" pitchFamily="2" charset="-52"/>
            </a:endParaRPr>
          </a:p>
          <a:p>
            <a:pPr marL="114300" indent="0" algn="l"/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4. Учтение взаимосвязи между устройствами</a:t>
            </a:r>
            <a:endParaRPr lang="LID4096" sz="1600" dirty="0">
              <a:solidFill>
                <a:schemeClr val="bg1"/>
              </a:solidFill>
              <a:latin typeface="Montserrat SemiBold" pitchFamily="2" charset="-52"/>
            </a:endParaRPr>
          </a:p>
          <a:p>
            <a:pPr marL="114300" indent="0" algn="l"/>
            <a:r>
              <a:rPr lang="mul" sz="1600" dirty="0">
                <a:solidFill>
                  <a:schemeClr val="bg1"/>
                </a:solidFill>
                <a:latin typeface="Montserrat SemiBold" pitchFamily="2" charset="-52"/>
              </a:rPr>
              <a:t>5. Обновление кода</a:t>
            </a:r>
            <a:endParaRPr lang="ru-RU" sz="1600" dirty="0">
              <a:solidFill>
                <a:schemeClr val="bg1"/>
              </a:solidFill>
              <a:latin typeface="Montserrat SemiBold" pitchFamily="2" charset="-52"/>
            </a:endParaRPr>
          </a:p>
        </p:txBody>
      </p:sp>
      <p:cxnSp>
        <p:nvCxnSpPr>
          <p:cNvPr id="5" name="Google Shape;216;p44">
            <a:extLst>
              <a:ext uri="{FF2B5EF4-FFF2-40B4-BE49-F238E27FC236}">
                <a16:creationId xmlns:a16="http://schemas.microsoft.com/office/drawing/2014/main" id="{FAEAA1BD-5D87-2EEA-EEE5-A3087B732C9D}"/>
              </a:ext>
            </a:extLst>
          </p:cNvPr>
          <p:cNvCxnSpPr>
            <a:cxnSpLocks/>
          </p:cNvCxnSpPr>
          <p:nvPr/>
        </p:nvCxnSpPr>
        <p:spPr>
          <a:xfrm>
            <a:off x="5098143" y="1325665"/>
            <a:ext cx="278184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728499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6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latin typeface="Montserrat ExtraBold" pitchFamily="2" charset="-52"/>
              </a:rPr>
              <a:t>03. Сайт проекта</a:t>
            </a:r>
            <a:endParaRPr sz="3200" dirty="0">
              <a:latin typeface="Montserrat ExtraBold" pitchFamily="2" charset="-52"/>
            </a:endParaRPr>
          </a:p>
        </p:txBody>
      </p:sp>
      <p:sp>
        <p:nvSpPr>
          <p:cNvPr id="2130" name="Google Shape;2130;p65"/>
          <p:cNvSpPr txBox="1">
            <a:spLocks noGrp="1"/>
          </p:cNvSpPr>
          <p:nvPr>
            <p:ph type="subTitle" idx="1"/>
          </p:nvPr>
        </p:nvSpPr>
        <p:spPr>
          <a:xfrm>
            <a:off x="938500" y="1760012"/>
            <a:ext cx="3361357" cy="24854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latin typeface="Montserrat SemiBold" pitchFamily="2" charset="-52"/>
              </a:rPr>
              <a:t>Чтобы посетить сайт проекта отсканируйте данный </a:t>
            </a:r>
            <a:r>
              <a:rPr lang="en-US" sz="1600" dirty="0">
                <a:latin typeface="Montserrat SemiBold" pitchFamily="2" charset="-52"/>
              </a:rPr>
              <a:t>QR-</a:t>
            </a:r>
            <a:r>
              <a:rPr lang="ru-RU" sz="1600" dirty="0">
                <a:latin typeface="Montserrat SemiBold" pitchFamily="2" charset="-52"/>
              </a:rPr>
              <a:t>код</a:t>
            </a:r>
            <a:endParaRPr sz="1600" dirty="0">
              <a:latin typeface="Montserrat SemiBold" pitchFamily="2" charset="-5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Montserrat SemiBold" pitchFamily="2" charset="-52"/>
            </a:endParaRPr>
          </a:p>
        </p:txBody>
      </p:sp>
      <p:cxnSp>
        <p:nvCxnSpPr>
          <p:cNvPr id="2136" name="Google Shape;2136;p65"/>
          <p:cNvCxnSpPr>
            <a:cxnSpLocks/>
          </p:cNvCxnSpPr>
          <p:nvPr/>
        </p:nvCxnSpPr>
        <p:spPr>
          <a:xfrm>
            <a:off x="1026200" y="414022"/>
            <a:ext cx="316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77767E-D597-E849-6ED4-A7DBCEF30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255" y="1156925"/>
            <a:ext cx="2853245" cy="3327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8"/>
          <p:cNvSpPr txBox="1">
            <a:spLocks noGrp="1"/>
          </p:cNvSpPr>
          <p:nvPr>
            <p:ph type="title"/>
          </p:nvPr>
        </p:nvSpPr>
        <p:spPr>
          <a:xfrm>
            <a:off x="4851452" y="1373325"/>
            <a:ext cx="3942589" cy="25890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Практическая ценность проекта многогранна и охватывает несколько ключевых областей</a:t>
            </a:r>
            <a:endParaRPr dirty="0"/>
          </a:p>
        </p:txBody>
      </p:sp>
      <p:cxnSp>
        <p:nvCxnSpPr>
          <p:cNvPr id="267" name="Google Shape;267;p48"/>
          <p:cNvCxnSpPr>
            <a:cxnSpLocks/>
          </p:cNvCxnSpPr>
          <p:nvPr/>
        </p:nvCxnSpPr>
        <p:spPr>
          <a:xfrm>
            <a:off x="4796172" y="1476900"/>
            <a:ext cx="0" cy="256452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268" name="Google Shape;268;p48"/>
          <p:cNvPicPr preferRelativeResize="0"/>
          <p:nvPr/>
        </p:nvPicPr>
        <p:blipFill>
          <a:blip r:embed="rId3">
            <a:alphaModFix/>
          </a:blip>
          <a:srcRect l="8472" r="7589"/>
          <a:stretch>
            <a:fillRect/>
          </a:stretch>
        </p:blipFill>
        <p:spPr>
          <a:xfrm>
            <a:off x="0" y="-88900"/>
            <a:ext cx="4470399" cy="5321299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56"/>
          <p:cNvSpPr txBox="1">
            <a:spLocks noGrp="1"/>
          </p:cNvSpPr>
          <p:nvPr>
            <p:ph type="title"/>
          </p:nvPr>
        </p:nvSpPr>
        <p:spPr>
          <a:xfrm>
            <a:off x="1176274" y="719771"/>
            <a:ext cx="6837425" cy="24425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400" dirty="0"/>
              <a:t>Спасибо за внимание!</a:t>
            </a:r>
            <a:endParaRPr sz="6400" dirty="0"/>
          </a:p>
        </p:txBody>
      </p:sp>
      <p:sp>
        <p:nvSpPr>
          <p:cNvPr id="1987" name="Google Shape;1987;p56"/>
          <p:cNvSpPr txBox="1">
            <a:spLocks noGrp="1"/>
          </p:cNvSpPr>
          <p:nvPr>
            <p:ph type="body" idx="1"/>
          </p:nvPr>
        </p:nvSpPr>
        <p:spPr>
          <a:xfrm>
            <a:off x="2387600" y="3640574"/>
            <a:ext cx="4508500" cy="783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/>
              <a:t>Мы готовы ответить на ваши вопросы</a:t>
            </a:r>
            <a:endParaRPr sz="2000" dirty="0"/>
          </a:p>
        </p:txBody>
      </p:sp>
      <p:cxnSp>
        <p:nvCxnSpPr>
          <p:cNvPr id="1988" name="Google Shape;1988;p56"/>
          <p:cNvCxnSpPr/>
          <p:nvPr/>
        </p:nvCxnSpPr>
        <p:spPr>
          <a:xfrm>
            <a:off x="3190500" y="34546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231</Words>
  <Application>Microsoft Office PowerPoint</Application>
  <PresentationFormat>Экран (16:9)</PresentationFormat>
  <Paragraphs>48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Montserrat SemiBold</vt:lpstr>
      <vt:lpstr>Montserrat ExtraBold</vt:lpstr>
      <vt:lpstr>Montserrat</vt:lpstr>
      <vt:lpstr>Arial</vt:lpstr>
      <vt:lpstr>Futuristic Background by Slidesgo</vt:lpstr>
      <vt:lpstr>«Создание модели умного дома и программного обеспечения для его управления с использованием ИИ»</vt:lpstr>
      <vt:lpstr>Цель проекта</vt:lpstr>
      <vt:lpstr>Задачи  проекта</vt:lpstr>
      <vt:lpstr>Проект актуален не только как исследовательская работа, но и как потенциально востребованный продукт, отвечающий на вызовы современной технологической, экономической и образовательной повестки</vt:lpstr>
      <vt:lpstr>01</vt:lpstr>
      <vt:lpstr>01. 3D-модель</vt:lpstr>
      <vt:lpstr>02. Код</vt:lpstr>
      <vt:lpstr>03. Сайт проекта</vt:lpstr>
      <vt:lpstr>Практическая ценность проекта многогранна и охватывает несколько ключевых областей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«Создание модели умного дома и программного обеспечения для его управления с использованием ИИ»</dc:title>
  <cp:lastModifiedBy>Mauser</cp:lastModifiedBy>
  <cp:revision>3</cp:revision>
  <dcterms:modified xsi:type="dcterms:W3CDTF">2026-01-14T16:01:40Z</dcterms:modified>
</cp:coreProperties>
</file>